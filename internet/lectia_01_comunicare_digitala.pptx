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o-RO"/>
    </a:defPPr>
    <a:lvl1pPr marL="0" algn="l" defTabSz="457200" rtl="0" eaLnBrk="1" latinLnBrk="0" hangingPunct="1">
      <a:defRPr lang="ro-RO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o-RO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o-RO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o-RO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o-RO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o-RO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o-RO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o-RO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o-RO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6" y="10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638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o-RO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o-RO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o-RO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o-RO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o-RO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o-RO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o-RO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o-RO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o-RO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📖 Manual: Unitatea 1, lecția 1 — paginile 7–9.</a:t>
            </a:r>
          </a:p>
          <a:p>
            <a:endParaRPr lang="ro-RO"/>
          </a:p>
          <a:p>
            <a:r>
              <a:rPr lang="ro-RO"/>
              <a:t>Anunț tema: cum comunicăm digital și de ce apar neînțelegeri. Durata ~50 min. Precizez: se notează doar ce apare marcat cu 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Ridicați mâna: cine a ales a? b? c? Las 2-3 elevi să comenteze. Insist pe ideea-cheie: vina nu e a omului, e a canalului. Aici se leagă toată lecția.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Aici dictez. Aștept să scrie toată lumea înainte de a trece mai departe. ~3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Dictez schema. Întreb: un SMS către mama e sincron sau asincron? Depinde de așteptare, nu de tehnologie — pregătesc slide-ul următor.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Slide-ul care închide bucla cu bifele albastre. Merită insistat — e ideea cea mai valoroasă a lecției.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Exemplul cu Reddit prinde foarte bine. Întreb cine a rezolvat ceva găsind un răspuns vechi pe forum.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Scurt aici, 3-4 minute. Elevii cunosc deja platformele — accentul e pe SCOPUL fiecărui canal.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Slide de fixare vizuală. Îl las pe ecran cât timp elevii completează schema în caiet.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Trecere de la teorie la practică. Întreb clasa cine a mai completat un formular Google la școală.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Dacă avem laboratorul disponibil: 10 minute de lucru efectiv. Trec printre bănci.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Nu citesc tot tabelul. Iau 3 exemple și întreb elevii ce tip de întrebare ar folosi.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Accent pe diferența alegere multiplă (una singură) vs. casete de selectare (mai multe). E cea mai frecventă confuzie.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Slide de dictare. Verific caietele câtorva elevi.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Parcurg rapid, 2 minute. Apoi trec la întrebări.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Răspunsuri așteptate: 1) sincron = timp real / asincron = decalat. 2) mesajul e stocat pe server (tehnic), dar noi așteptăm răspuns imediat (social). 3) formular online — centralizează răspunsurile într-un singur loc. 4) casete de selectare, pentru că mai multe răspunsuri pot fi adevărate simultan.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Anunț termenul de predare. Formularul se trimite anonim către colegi.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o-RO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lang="ro-RO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lang="ro-RO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ro-RO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ro-RO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ro-RO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ro-RO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ro-RO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ro-RO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ro-RO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o-RO" smtClean="0"/>
              <a:t>08.09.2026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o-RO" smtClean="0"/>
              <a:t>08.09.2026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lang="ro-RO" sz="4000" b="1" cap="all"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lang="ro-RO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lang="ro-RO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ro-RO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ro-RO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ro-RO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ro-RO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ro-RO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ro-RO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ro-RO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o-RO" smtClean="0"/>
              <a:t>08.09.2026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lang="ro-RO" sz="2800"/>
            </a:lvl1pPr>
            <a:lvl2pPr>
              <a:defRPr lang="ro-RO" sz="2400"/>
            </a:lvl2pPr>
            <a:lvl3pPr>
              <a:defRPr lang="ro-RO" sz="2000"/>
            </a:lvl3pPr>
            <a:lvl4pPr>
              <a:defRPr lang="ro-RO" sz="1800"/>
            </a:lvl4pPr>
            <a:lvl5pPr>
              <a:defRPr lang="ro-RO" sz="1800"/>
            </a:lvl5pPr>
            <a:lvl6pPr>
              <a:defRPr lang="ro-RO" sz="1800"/>
            </a:lvl6pPr>
            <a:lvl7pPr>
              <a:defRPr lang="ro-RO" sz="1800"/>
            </a:lvl7pPr>
            <a:lvl8pPr>
              <a:defRPr lang="ro-RO" sz="1800"/>
            </a:lvl8pPr>
            <a:lvl9pPr>
              <a:defRPr lang="ro-RO"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lang="ro-RO" sz="2800"/>
            </a:lvl1pPr>
            <a:lvl2pPr>
              <a:defRPr lang="ro-RO" sz="2400"/>
            </a:lvl2pPr>
            <a:lvl3pPr>
              <a:defRPr lang="ro-RO" sz="2000"/>
            </a:lvl3pPr>
            <a:lvl4pPr>
              <a:defRPr lang="ro-RO" sz="1800"/>
            </a:lvl4pPr>
            <a:lvl5pPr>
              <a:defRPr lang="ro-RO" sz="1800"/>
            </a:lvl5pPr>
            <a:lvl6pPr>
              <a:defRPr lang="ro-RO" sz="1800"/>
            </a:lvl6pPr>
            <a:lvl7pPr>
              <a:defRPr lang="ro-RO" sz="1800"/>
            </a:lvl7pPr>
            <a:lvl8pPr>
              <a:defRPr lang="ro-RO" sz="1800"/>
            </a:lvl8pPr>
            <a:lvl9pPr>
              <a:defRPr lang="ro-RO"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o-RO" smtClean="0"/>
              <a:t>08.09.2026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o-RO"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lang="ro-RO" sz="2400" b="1"/>
            </a:lvl1pPr>
            <a:lvl2pPr marL="457200" indent="0">
              <a:buNone/>
              <a:defRPr lang="ro-RO" sz="2000" b="1"/>
            </a:lvl2pPr>
            <a:lvl3pPr marL="914400" indent="0">
              <a:buNone/>
              <a:defRPr lang="ro-RO" sz="1800" b="1"/>
            </a:lvl3pPr>
            <a:lvl4pPr marL="1371600" indent="0">
              <a:buNone/>
              <a:defRPr lang="ro-RO" sz="1600" b="1"/>
            </a:lvl4pPr>
            <a:lvl5pPr marL="1828800" indent="0">
              <a:buNone/>
              <a:defRPr lang="ro-RO" sz="1600" b="1"/>
            </a:lvl5pPr>
            <a:lvl6pPr marL="2286000" indent="0">
              <a:buNone/>
              <a:defRPr lang="ro-RO" sz="1600" b="1"/>
            </a:lvl6pPr>
            <a:lvl7pPr marL="2743200" indent="0">
              <a:buNone/>
              <a:defRPr lang="ro-RO" sz="1600" b="1"/>
            </a:lvl7pPr>
            <a:lvl8pPr marL="3200400" indent="0">
              <a:buNone/>
              <a:defRPr lang="ro-RO" sz="1600" b="1"/>
            </a:lvl8pPr>
            <a:lvl9pPr marL="3657600" indent="0">
              <a:buNone/>
              <a:defRPr lang="ro-RO" sz="1600" b="1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lang="ro-RO" sz="2400"/>
            </a:lvl1pPr>
            <a:lvl2pPr>
              <a:defRPr lang="ro-RO" sz="2000"/>
            </a:lvl2pPr>
            <a:lvl3pPr>
              <a:defRPr lang="ro-RO" sz="1800"/>
            </a:lvl3pPr>
            <a:lvl4pPr>
              <a:defRPr lang="ro-RO" sz="1600"/>
            </a:lvl4pPr>
            <a:lvl5pPr>
              <a:defRPr lang="ro-RO" sz="1600"/>
            </a:lvl5pPr>
            <a:lvl6pPr>
              <a:defRPr lang="ro-RO" sz="1600"/>
            </a:lvl6pPr>
            <a:lvl7pPr>
              <a:defRPr lang="ro-RO" sz="1600"/>
            </a:lvl7pPr>
            <a:lvl8pPr>
              <a:defRPr lang="ro-RO" sz="1600"/>
            </a:lvl8pPr>
            <a:lvl9pPr>
              <a:defRPr lang="ro-RO" sz="16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lang="ro-RO" sz="2400" b="1"/>
            </a:lvl1pPr>
            <a:lvl2pPr marL="457200" indent="0">
              <a:buNone/>
              <a:defRPr lang="ro-RO" sz="2000" b="1"/>
            </a:lvl2pPr>
            <a:lvl3pPr marL="914400" indent="0">
              <a:buNone/>
              <a:defRPr lang="ro-RO" sz="1800" b="1"/>
            </a:lvl3pPr>
            <a:lvl4pPr marL="1371600" indent="0">
              <a:buNone/>
              <a:defRPr lang="ro-RO" sz="1600" b="1"/>
            </a:lvl4pPr>
            <a:lvl5pPr marL="1828800" indent="0">
              <a:buNone/>
              <a:defRPr lang="ro-RO" sz="1600" b="1"/>
            </a:lvl5pPr>
            <a:lvl6pPr marL="2286000" indent="0">
              <a:buNone/>
              <a:defRPr lang="ro-RO" sz="1600" b="1"/>
            </a:lvl6pPr>
            <a:lvl7pPr marL="2743200" indent="0">
              <a:buNone/>
              <a:defRPr lang="ro-RO" sz="1600" b="1"/>
            </a:lvl7pPr>
            <a:lvl8pPr marL="3200400" indent="0">
              <a:buNone/>
              <a:defRPr lang="ro-RO" sz="1600" b="1"/>
            </a:lvl8pPr>
            <a:lvl9pPr marL="3657600" indent="0">
              <a:buNone/>
              <a:defRPr lang="ro-RO" sz="1600" b="1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lang="ro-RO" sz="2400"/>
            </a:lvl1pPr>
            <a:lvl2pPr>
              <a:defRPr lang="ro-RO" sz="2000"/>
            </a:lvl2pPr>
            <a:lvl3pPr>
              <a:defRPr lang="ro-RO" sz="1800"/>
            </a:lvl3pPr>
            <a:lvl4pPr>
              <a:defRPr lang="ro-RO" sz="1600"/>
            </a:lvl4pPr>
            <a:lvl5pPr>
              <a:defRPr lang="ro-RO" sz="1600"/>
            </a:lvl5pPr>
            <a:lvl6pPr>
              <a:defRPr lang="ro-RO" sz="1600"/>
            </a:lvl6pPr>
            <a:lvl7pPr>
              <a:defRPr lang="ro-RO" sz="1600"/>
            </a:lvl7pPr>
            <a:lvl8pPr>
              <a:defRPr lang="ro-RO" sz="1600"/>
            </a:lvl8pPr>
            <a:lvl9pPr>
              <a:defRPr lang="ro-RO" sz="16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o-RO" smtClean="0"/>
              <a:t>08.09.2026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o-RO" smtClean="0"/>
              <a:t>08.09.2026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o-RO" smtClean="0"/>
              <a:t>08.09.2026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lang="ro-RO" sz="2000" b="1"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lang="ro-RO" sz="3200"/>
            </a:lvl1pPr>
            <a:lvl2pPr>
              <a:defRPr lang="ro-RO" sz="2800"/>
            </a:lvl2pPr>
            <a:lvl3pPr>
              <a:defRPr lang="ro-RO" sz="2400"/>
            </a:lvl3pPr>
            <a:lvl4pPr>
              <a:defRPr lang="ro-RO" sz="2000"/>
            </a:lvl4pPr>
            <a:lvl5pPr>
              <a:defRPr lang="ro-RO" sz="2000"/>
            </a:lvl5pPr>
            <a:lvl6pPr>
              <a:defRPr lang="ro-RO" sz="2000"/>
            </a:lvl6pPr>
            <a:lvl7pPr>
              <a:defRPr lang="ro-RO" sz="2000"/>
            </a:lvl7pPr>
            <a:lvl8pPr>
              <a:defRPr lang="ro-RO" sz="2000"/>
            </a:lvl8pPr>
            <a:lvl9pPr>
              <a:defRPr lang="ro-RO" sz="20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lang="ro-RO" sz="1400"/>
            </a:lvl1pPr>
            <a:lvl2pPr marL="457200" indent="0">
              <a:buNone/>
              <a:defRPr lang="ro-RO" sz="1200"/>
            </a:lvl2pPr>
            <a:lvl3pPr marL="914400" indent="0">
              <a:buNone/>
              <a:defRPr lang="ro-RO" sz="1000"/>
            </a:lvl3pPr>
            <a:lvl4pPr marL="1371600" indent="0">
              <a:buNone/>
              <a:defRPr lang="ro-RO" sz="900"/>
            </a:lvl4pPr>
            <a:lvl5pPr marL="1828800" indent="0">
              <a:buNone/>
              <a:defRPr lang="ro-RO" sz="900"/>
            </a:lvl5pPr>
            <a:lvl6pPr marL="2286000" indent="0">
              <a:buNone/>
              <a:defRPr lang="ro-RO" sz="900"/>
            </a:lvl6pPr>
            <a:lvl7pPr marL="2743200" indent="0">
              <a:buNone/>
              <a:defRPr lang="ro-RO" sz="900"/>
            </a:lvl7pPr>
            <a:lvl8pPr marL="3200400" indent="0">
              <a:buNone/>
              <a:defRPr lang="ro-RO" sz="900"/>
            </a:lvl8pPr>
            <a:lvl9pPr marL="3657600" indent="0">
              <a:buNone/>
              <a:defRPr lang="ro-RO" sz="900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o-RO" smtClean="0"/>
              <a:t>08.09.2026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lang="ro-RO" sz="2000" b="1"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lang="ro-RO" sz="3200"/>
            </a:lvl1pPr>
            <a:lvl2pPr marL="457200" indent="0">
              <a:buNone/>
              <a:defRPr lang="ro-RO" sz="2800"/>
            </a:lvl2pPr>
            <a:lvl3pPr marL="914400" indent="0">
              <a:buNone/>
              <a:defRPr lang="ro-RO" sz="2400"/>
            </a:lvl3pPr>
            <a:lvl4pPr marL="1371600" indent="0">
              <a:buNone/>
              <a:defRPr lang="ro-RO" sz="2000"/>
            </a:lvl4pPr>
            <a:lvl5pPr marL="1828800" indent="0">
              <a:buNone/>
              <a:defRPr lang="ro-RO" sz="2000"/>
            </a:lvl5pPr>
            <a:lvl6pPr marL="2286000" indent="0">
              <a:buNone/>
              <a:defRPr lang="ro-RO" sz="2000"/>
            </a:lvl6pPr>
            <a:lvl7pPr marL="2743200" indent="0">
              <a:buNone/>
              <a:defRPr lang="ro-RO" sz="2000"/>
            </a:lvl7pPr>
            <a:lvl8pPr marL="3200400" indent="0">
              <a:buNone/>
              <a:defRPr lang="ro-RO" sz="2000"/>
            </a:lvl8pPr>
            <a:lvl9pPr marL="3657600" indent="0">
              <a:buNone/>
              <a:defRPr lang="ro-RO" sz="2000"/>
            </a:lvl9pPr>
          </a:lstStyle>
          <a:p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lang="ro-RO" sz="1400"/>
            </a:lvl1pPr>
            <a:lvl2pPr marL="457200" indent="0">
              <a:buNone/>
              <a:defRPr lang="ro-RO" sz="1200"/>
            </a:lvl2pPr>
            <a:lvl3pPr marL="914400" indent="0">
              <a:buNone/>
              <a:defRPr lang="ro-RO" sz="1000"/>
            </a:lvl3pPr>
            <a:lvl4pPr marL="1371600" indent="0">
              <a:buNone/>
              <a:defRPr lang="ro-RO" sz="900"/>
            </a:lvl4pPr>
            <a:lvl5pPr marL="1828800" indent="0">
              <a:buNone/>
              <a:defRPr lang="ro-RO" sz="900"/>
            </a:lvl5pPr>
            <a:lvl6pPr marL="2286000" indent="0">
              <a:buNone/>
              <a:defRPr lang="ro-RO" sz="900"/>
            </a:lvl6pPr>
            <a:lvl7pPr marL="2743200" indent="0">
              <a:buNone/>
              <a:defRPr lang="ro-RO" sz="900"/>
            </a:lvl7pPr>
            <a:lvl8pPr marL="3200400" indent="0">
              <a:buNone/>
              <a:defRPr lang="ro-RO" sz="900"/>
            </a:lvl8pPr>
            <a:lvl9pPr marL="3657600" indent="0">
              <a:buNone/>
              <a:defRPr lang="ro-RO" sz="900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o-RO" smtClean="0"/>
              <a:t>08.09.2026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o-RO" smtClean="0"/>
              <a:t>08.09.2026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o-RO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o-RO" smtClean="0"/>
              <a:t>08.09.2026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o-RO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ro-RO" smtClean="0"/>
              <a:t>08.09.2026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o-RO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o-RO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lang="ro-RO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ro-RO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ro-RO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ro-RO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ro-RO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ro-RO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ro-RO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ro-RO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ro-RO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ro-RO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457200" rtl="0" eaLnBrk="1" latinLnBrk="0" hangingPunct="1">
        <a:defRPr lang="ro-RO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ro-RO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ro-RO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ro-RO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ro-RO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ro-RO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ro-RO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ro-RO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ro-RO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B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9601200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UNITATEA 1 · SOCIETATEA DIGITALĂ · LECȚIA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692640" cy="21945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o-RO" sz="4400" b="1" i="0">
                <a:solidFill>
                  <a:srgbClr val="FFFFFF"/>
                </a:solidFill>
                <a:latin typeface="Calibri"/>
              </a:rPr>
              <a:t>Comunicare digitală:</a:t>
            </a:r>
          </a:p>
          <a:p>
            <a:pPr algn="l">
              <a:spcAft>
                <a:spcPts val="1400"/>
              </a:spcAft>
            </a:pPr>
            <a:r>
              <a:rPr lang="ro-RO" sz="4400" b="1" i="0">
                <a:solidFill>
                  <a:srgbClr val="F2A61D"/>
                </a:solidFill>
                <a:latin typeface="Calibri"/>
              </a:rPr>
              <a:t>sincron vs. asincron</a:t>
            </a:r>
          </a:p>
          <a:p>
            <a:pPr algn="l">
              <a:spcAft>
                <a:spcPts val="0"/>
              </a:spcAft>
            </a:pPr>
            <a:r>
              <a:rPr lang="ro-RO" sz="2300" b="0" i="0">
                <a:solidFill>
                  <a:srgbClr val="C7D6E8"/>
                </a:solidFill>
                <a:latin typeface="Calibri"/>
              </a:rPr>
              <a:t>Canale, contexte și reguli de bază. Formulare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937760"/>
            <a:ext cx="2011680" cy="4572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/>
          <p:cNvSpPr txBox="1"/>
          <p:nvPr/>
        </p:nvSpPr>
        <p:spPr>
          <a:xfrm>
            <a:off x="1097280" y="5257800"/>
            <a:ext cx="9144000" cy="26161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700" b="0" i="0" dirty="0">
                <a:solidFill>
                  <a:srgbClr val="9FB4CC"/>
                </a:solidFill>
                <a:latin typeface="Calibri"/>
              </a:rPr>
              <a:t>TIC — Clasa a IX-a  ·  Trunchi comun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CAPTAREA ATENȚIEI · DIN EXPERIENȚA TA</a:t>
            </a:r>
          </a:p>
          <a:p>
            <a:pPr algn="l">
              <a:spcAft>
                <a:spcPts val="0"/>
              </a:spcAft>
            </a:pPr>
            <a:r>
              <a:rPr lang="ro-RO" sz="2700" b="1" i="0">
                <a:solidFill>
                  <a:srgbClr val="FFFFFF"/>
                </a:solidFill>
                <a:latin typeface="Calibri"/>
              </a:rPr>
              <a:t>Mesajul a fost citit... dar nu primești răspuns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937760" cy="882293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o-RO" sz="2000" b="1" i="0" dirty="0">
                <a:solidFill>
                  <a:srgbClr val="142A4C"/>
                </a:solidFill>
                <a:latin typeface="Calibri"/>
              </a:rPr>
              <a:t>Ai trimis un mesaj important pe WhatsApp.</a:t>
            </a:r>
          </a:p>
          <a:p>
            <a:pPr algn="l">
              <a:spcAft>
                <a:spcPts val="0"/>
              </a:spcAft>
            </a:pPr>
            <a:r>
              <a:rPr lang="ro-RO" sz="1700" b="0" i="0" dirty="0">
                <a:solidFill>
                  <a:srgbClr val="5A6676"/>
                </a:solidFill>
                <a:latin typeface="Calibri"/>
              </a:rPr>
              <a:t>Vezi cele două bife albastre: a fost citit.
Trec 5 minute. 10 minute. O oră. Nimic.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4937760" cy="4114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900" b="1" i="0">
                <a:solidFill>
                  <a:srgbClr val="1E6FD9"/>
                </a:solidFill>
                <a:latin typeface="Calibri"/>
              </a:rPr>
              <a:t>Ce simți?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4937760" cy="74980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>
            <a:solidFill>
              <a:srgbClr val="E5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Rectangle 7"/>
          <p:cNvSpPr/>
          <p:nvPr/>
        </p:nvSpPr>
        <p:spPr>
          <a:xfrm>
            <a:off x="640080" y="3200400"/>
            <a:ext cx="73152" cy="749808"/>
          </a:xfrm>
          <a:prstGeom prst="rect">
            <a:avLst/>
          </a:prstGeom>
          <a:solidFill>
            <a:srgbClr val="E5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4572000" cy="5943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a. Panică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5A6676"/>
                </a:solidFill>
                <a:latin typeface="Calibri"/>
              </a:rPr>
              <a:t>„Oare s-a supărat?”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69080"/>
            <a:ext cx="4937760" cy="74980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>
            <a:solidFill>
              <a:srgbClr val="F2A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Rectangle 10"/>
          <p:cNvSpPr/>
          <p:nvPr/>
        </p:nvSpPr>
        <p:spPr>
          <a:xfrm>
            <a:off x="640080" y="4069080"/>
            <a:ext cx="73152" cy="749808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4572000" cy="5943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b. Furie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5A6676"/>
                </a:solidFill>
                <a:latin typeface="Calibri"/>
              </a:rPr>
              <a:t>„De ce nu răspunde dacă a văzut?”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37760"/>
            <a:ext cx="4937760" cy="74980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4" name="Rectangle 13"/>
          <p:cNvSpPr/>
          <p:nvPr/>
        </p:nvSpPr>
        <p:spPr>
          <a:xfrm>
            <a:off x="640080" y="4937760"/>
            <a:ext cx="73152" cy="7498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TextBox 14"/>
          <p:cNvSpPr txBox="1"/>
          <p:nvPr/>
        </p:nvSpPr>
        <p:spPr>
          <a:xfrm>
            <a:off x="868680" y="5029200"/>
            <a:ext cx="4572000" cy="5943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c. Indiferență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5A6676"/>
                </a:solidFill>
                <a:latin typeface="Calibri"/>
              </a:rPr>
              <a:t>„Probabil e ocupat.”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463040"/>
            <a:ext cx="5486400" cy="3657600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4754880" cy="31089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💡  SURPRIZA</a:t>
            </a:r>
          </a:p>
          <a:p>
            <a:pPr algn="l">
              <a:spcAft>
                <a:spcPts val="1200"/>
              </a:spcAft>
            </a:pPr>
            <a:r>
              <a:rPr lang="ro-RO" sz="2100" b="1" i="0">
                <a:solidFill>
                  <a:srgbClr val="FFFFFF"/>
                </a:solidFill>
                <a:latin typeface="Calibri"/>
              </a:rPr>
              <a:t>Problema NU este la persoana care primește mesajul.</a:t>
            </a:r>
          </a:p>
          <a:p>
            <a:pPr algn="l">
              <a:spcAft>
                <a:spcPts val="1400"/>
              </a:spcAft>
            </a:pPr>
            <a:r>
              <a:rPr lang="ro-RO" sz="2100" b="1" i="0">
                <a:solidFill>
                  <a:srgbClr val="F2A61D"/>
                </a:solidFill>
                <a:latin typeface="Calibri"/>
              </a:rPr>
              <a:t>Problema e că nu am înțeles ce fel de canal de comunicare folosim.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C7D6E8"/>
                </a:solidFill>
                <a:latin typeface="Calibri"/>
              </a:rPr>
              <a:t>Ne așteptăm la un răspuns instant pe WhatsApp, exact ca la un apel telefonic. Dar cele două nu funcționează la fel.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349240"/>
            <a:ext cx="548640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 dirty="0">
                <a:solidFill>
                  <a:srgbClr val="1E6FD9"/>
                </a:solidFill>
                <a:latin typeface="Calibri"/>
              </a:rPr>
              <a:t>→ Astăzi învățăm diferența — și n-o să mai fii supărat degeaba.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0" name="TextBox 19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 animBg="1"/>
      <p:bldP spid="15" grpId="0"/>
      <p:bldP spid="16" grpId="0" animBg="1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NOȚIUNI · CONCEPTUL DE BAZĂ</a:t>
            </a:r>
          </a:p>
          <a:p>
            <a:pPr algn="l">
              <a:spcAft>
                <a:spcPts val="0"/>
              </a:spcAft>
            </a:pPr>
            <a:r>
              <a:rPr lang="ro-RO" sz="2700" b="1" i="0">
                <a:solidFill>
                  <a:srgbClr val="FFFFFF"/>
                </a:solidFill>
                <a:latin typeface="Calibri"/>
              </a:rPr>
              <a:t>Ce înseamnă comunicare digitală?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2400" b="1" i="0">
                <a:solidFill>
                  <a:srgbClr val="142A4C"/>
                </a:solidFill>
                <a:latin typeface="Calibri"/>
              </a:rPr>
              <a:t>Transmiterea informațiilor cu ajutorul dispozitivelor și serviciilor digitale.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1691640" cy="12344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691640" cy="9144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ro-RO" sz="2600" b="0" i="0">
                <a:solidFill>
                  <a:srgbClr val="1B222C"/>
                </a:solidFill>
                <a:latin typeface="Calibri"/>
              </a:rPr>
              <a:t>💻</a:t>
            </a:r>
          </a:p>
          <a:p>
            <a:pPr algn="ctr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Calculator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2240280"/>
            <a:ext cx="1691640" cy="12344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TextBox 8"/>
          <p:cNvSpPr txBox="1"/>
          <p:nvPr/>
        </p:nvSpPr>
        <p:spPr>
          <a:xfrm>
            <a:off x="2487168" y="2423160"/>
            <a:ext cx="1691640" cy="9144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ro-RO" sz="2600" b="0" i="0">
                <a:solidFill>
                  <a:srgbClr val="1B222C"/>
                </a:solidFill>
                <a:latin typeface="Calibri"/>
              </a:rPr>
              <a:t>📱</a:t>
            </a:r>
          </a:p>
          <a:p>
            <a:pPr algn="ctr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Telefon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240280"/>
            <a:ext cx="1691640" cy="12344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4334256" y="2423160"/>
            <a:ext cx="1691640" cy="9144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ro-RO" sz="2600" b="0" i="0">
                <a:solidFill>
                  <a:srgbClr val="1B222C"/>
                </a:solidFill>
                <a:latin typeface="Calibri"/>
              </a:rPr>
              <a:t>📲</a:t>
            </a:r>
          </a:p>
          <a:p>
            <a:pPr algn="ctr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Tabletă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240280"/>
            <a:ext cx="1691640" cy="12344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TextBox 12"/>
          <p:cNvSpPr txBox="1"/>
          <p:nvPr/>
        </p:nvSpPr>
        <p:spPr>
          <a:xfrm>
            <a:off x="6181344" y="2423160"/>
            <a:ext cx="1691640" cy="9144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ro-RO" sz="2600" b="0" i="0">
                <a:solidFill>
                  <a:srgbClr val="1B222C"/>
                </a:solidFill>
                <a:latin typeface="Calibri"/>
              </a:rPr>
              <a:t>🌐</a:t>
            </a:r>
          </a:p>
          <a:p>
            <a:pPr algn="ctr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Internet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2240280"/>
            <a:ext cx="1691640" cy="12344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TextBox 14"/>
          <p:cNvSpPr txBox="1"/>
          <p:nvPr/>
        </p:nvSpPr>
        <p:spPr>
          <a:xfrm>
            <a:off x="8028432" y="2423160"/>
            <a:ext cx="1691640" cy="9144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ro-RO" sz="2600" b="0" i="0">
                <a:solidFill>
                  <a:srgbClr val="1B222C"/>
                </a:solidFill>
                <a:latin typeface="Calibri"/>
              </a:rPr>
              <a:t>🧩</a:t>
            </a:r>
          </a:p>
          <a:p>
            <a:pPr algn="ctr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Aplicații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2240280"/>
            <a:ext cx="1691640" cy="12344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7" name="TextBox 16"/>
          <p:cNvSpPr txBox="1"/>
          <p:nvPr/>
        </p:nvSpPr>
        <p:spPr>
          <a:xfrm>
            <a:off x="9875520" y="2423160"/>
            <a:ext cx="1691640" cy="9144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ro-RO" sz="2600" b="0" i="0">
                <a:solidFill>
                  <a:srgbClr val="1B222C"/>
                </a:solidFill>
                <a:latin typeface="Calibri"/>
              </a:rPr>
              <a:t>☁</a:t>
            </a:r>
          </a:p>
          <a:p>
            <a:pPr algn="ctr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Platforme online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8F4F7"/>
          </a:solidFill>
          <a:ln w="15875">
            <a:solidFill>
              <a:srgbClr val="2AB7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9" name="TextBox 18"/>
          <p:cNvSpPr txBox="1"/>
          <p:nvPr/>
        </p:nvSpPr>
        <p:spPr>
          <a:xfrm>
            <a:off x="960120" y="3931920"/>
            <a:ext cx="1033272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50" b="1" i="0">
                <a:solidFill>
                  <a:srgbClr val="142A4C"/>
                </a:solidFill>
                <a:latin typeface="Calibri"/>
              </a:rPr>
              <a:t>🤝   De multe ori comunicarea digitală vine „la pachet” cu colaborarea digitală = lucrul împreună prin instrumente online.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5488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22225">
            <a:solidFill>
              <a:srgbClr val="F2A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1" name="Rectangle 20"/>
          <p:cNvSpPr/>
          <p:nvPr/>
        </p:nvSpPr>
        <p:spPr>
          <a:xfrm>
            <a:off x="640080" y="4754880"/>
            <a:ext cx="82296" cy="155448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2" name="TextBox 21"/>
          <p:cNvSpPr txBox="1"/>
          <p:nvPr/>
        </p:nvSpPr>
        <p:spPr>
          <a:xfrm>
            <a:off x="914400" y="4882896"/>
            <a:ext cx="10378440" cy="13258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ro-RO" sz="1600" b="1" i="0">
                <a:solidFill>
                  <a:srgbClr val="9A6B06"/>
                </a:solidFill>
                <a:latin typeface="Calibri"/>
              </a:rPr>
              <a:t>📝  DE NOTAT ÎN CAIET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4A3810"/>
                </a:solidFill>
                <a:latin typeface="Calibri"/>
              </a:rPr>
              <a:t>•  Comunicare digitală = transmiterea informațiilor cu ajutorul dispozitivelor și serviciilor digitale (calculator, telefon, tabletă, internet, aplicații, platforme online).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4A3810"/>
                </a:solidFill>
                <a:latin typeface="Calibri"/>
              </a:rPr>
              <a:t>•  Colaborare digitală = lucrul împreună prin instrumente online.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NOȚIUNI · CLASIFICAREA DE BAZĂ</a:t>
            </a:r>
          </a:p>
          <a:p>
            <a:pPr algn="l">
              <a:spcAft>
                <a:spcPts val="0"/>
              </a:spcAft>
            </a:pPr>
            <a:r>
              <a:rPr lang="ro-RO" sz="2700" b="1" i="0">
                <a:solidFill>
                  <a:srgbClr val="FFFFFF"/>
                </a:solidFill>
                <a:latin typeface="Calibri"/>
              </a:rPr>
              <a:t>Două tipuri: sincron și asincron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700" b="0" i="1">
                <a:solidFill>
                  <a:srgbClr val="5A6676"/>
                </a:solidFill>
                <a:latin typeface="Calibri"/>
              </a:rPr>
              <a:t>Analogie:  sincron = o convorbire față în față.   Asincron = un bilețel lăsat pe frigider.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2578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257800" cy="566928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4754880" cy="4114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800" b="1" i="0">
                <a:solidFill>
                  <a:srgbClr val="FFFFFF"/>
                </a:solidFill>
                <a:latin typeface="Calibri"/>
              </a:rPr>
              <a:t>⚡  SINCRON — în timp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754880" cy="1691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ro-RO" sz="1700" b="1" i="0">
                <a:solidFill>
                  <a:srgbClr val="142A4C"/>
                </a:solidFill>
                <a:latin typeface="Calibri"/>
              </a:rPr>
              <a:t>Acțiunea se întâmplă „ACUM”</a:t>
            </a:r>
          </a:p>
          <a:p>
            <a:pPr algn="l">
              <a:spcAft>
                <a:spcPts val="5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Ai nevoie de un răspuns rapid</a:t>
            </a:r>
          </a:p>
          <a:p>
            <a:pPr algn="l">
              <a:spcAft>
                <a:spcPts val="5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Amândoi sunteți prezenți în același timp</a:t>
            </a:r>
          </a:p>
          <a:p>
            <a:pPr algn="l">
              <a:spcAft>
                <a:spcPts val="5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Ex.: apel telefonic, apel video, chat activ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2578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Rectangle 10"/>
          <p:cNvSpPr/>
          <p:nvPr/>
        </p:nvSpPr>
        <p:spPr>
          <a:xfrm>
            <a:off x="6263640" y="1874519"/>
            <a:ext cx="5257800" cy="56692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TextBox 11"/>
          <p:cNvSpPr txBox="1"/>
          <p:nvPr/>
        </p:nvSpPr>
        <p:spPr>
          <a:xfrm>
            <a:off x="6537960" y="1984248"/>
            <a:ext cx="4754880" cy="4114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800" b="1" i="0">
                <a:solidFill>
                  <a:srgbClr val="FFFFFF"/>
                </a:solidFill>
                <a:latin typeface="Calibri"/>
              </a:rPr>
              <a:t>🕒  ASINCRON — decalat în timp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51760"/>
            <a:ext cx="4754880" cy="1691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ro-RO" sz="1700" b="1" i="0">
                <a:solidFill>
                  <a:srgbClr val="142A4C"/>
                </a:solidFill>
                <a:latin typeface="Calibri"/>
              </a:rPr>
              <a:t>Răspunsul poate veni mai târziu</a:t>
            </a:r>
          </a:p>
          <a:p>
            <a:pPr algn="l">
              <a:spcAft>
                <a:spcPts val="5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NU te aștepți să răspundă imediat</a:t>
            </a:r>
          </a:p>
          <a:p>
            <a:pPr algn="l">
              <a:spcAft>
                <a:spcPts val="5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Fiecare răspunde când poate</a:t>
            </a:r>
          </a:p>
          <a:p>
            <a:pPr algn="l">
              <a:spcAft>
                <a:spcPts val="5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Ex.: e-mail, forum, mesaj pe rețele sociale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63440"/>
            <a:ext cx="10881360" cy="1225296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22225">
            <a:solidFill>
              <a:srgbClr val="F2A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Rectangle 14"/>
          <p:cNvSpPr/>
          <p:nvPr/>
        </p:nvSpPr>
        <p:spPr>
          <a:xfrm>
            <a:off x="640080" y="4663440"/>
            <a:ext cx="82296" cy="1225296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6" name="TextBox 15"/>
          <p:cNvSpPr txBox="1"/>
          <p:nvPr/>
        </p:nvSpPr>
        <p:spPr>
          <a:xfrm>
            <a:off x="914400" y="4791456"/>
            <a:ext cx="10378440" cy="9966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ro-RO" sz="1600" b="1" i="0">
                <a:solidFill>
                  <a:srgbClr val="9A6B06"/>
                </a:solidFill>
                <a:latin typeface="Calibri"/>
              </a:rPr>
              <a:t>📝  DE NOTAT ÎN CAIET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4A3810"/>
                </a:solidFill>
                <a:latin typeface="Calibri"/>
              </a:rPr>
              <a:t>•  Comunicare SINCRONĂ = are loc în timp real; se așteaptă răspuns imediat (apel telefonic, apel video, chat activ).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4A3810"/>
                </a:solidFill>
                <a:latin typeface="Calibri"/>
              </a:rPr>
              <a:t>•  Comunicare ASINCRONĂ = răspunsul poate veni mai târziu (e-mail, forum, mesaj pe rețele sociale).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8" name="TextBox 17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NOȚIUNI · CANALE (1)</a:t>
            </a:r>
          </a:p>
          <a:p>
            <a:pPr algn="l">
              <a:spcAft>
                <a:spcPts val="0"/>
              </a:spcAft>
            </a:pPr>
            <a:r>
              <a:rPr lang="ro-RO" sz="2700" b="1" i="0">
                <a:solidFill>
                  <a:srgbClr val="FFFFFF"/>
                </a:solidFill>
                <a:latin typeface="Calibri"/>
              </a:rPr>
              <a:t>Comunicarea sincronă — canalele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18288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ro-RO" sz="1800" b="1" i="0">
                <a:solidFill>
                  <a:srgbClr val="142A4C"/>
                </a:solidFill>
                <a:latin typeface="Calibri"/>
              </a:rPr>
              <a:t>a.   💬   Chat-ul (mesageria instant)</a:t>
            </a:r>
          </a:p>
          <a:p>
            <a:pPr algn="l">
              <a:spcAft>
                <a:spcPts val="80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WhatsApp · Telegram · Discord · Messenger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Mesajul stă pe un server până îl deschizi.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Conversația se poate relua oricând.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TextBox 7"/>
          <p:cNvSpPr txBox="1"/>
          <p:nvPr/>
        </p:nvSpPr>
        <p:spPr>
          <a:xfrm>
            <a:off x="6537960" y="1645920"/>
            <a:ext cx="4754880" cy="18288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ro-RO" sz="1800" b="1" i="0">
                <a:solidFill>
                  <a:srgbClr val="142A4C"/>
                </a:solidFill>
                <a:latin typeface="Calibri"/>
              </a:rPr>
              <a:t>b.   📹   Apeluri vocale / video</a:t>
            </a:r>
          </a:p>
          <a:p>
            <a:pPr algn="l">
              <a:spcAft>
                <a:spcPts val="80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Google Meet · Microsoft Teams · Zoom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Colaborare în timp real, cursuri online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Vezi reacțiile interlocutorilor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Partajare ecran (screen share) pentru proiecte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TextBox 9"/>
          <p:cNvSpPr txBox="1"/>
          <p:nvPr/>
        </p:nvSpPr>
        <p:spPr>
          <a:xfrm>
            <a:off x="960120" y="3977639"/>
            <a:ext cx="10241280" cy="10515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ro-RO" sz="1600" b="1" i="0">
                <a:solidFill>
                  <a:srgbClr val="F2A61D"/>
                </a:solidFill>
                <a:latin typeface="Calibri"/>
              </a:rPr>
              <a:t>⚠  PARADOXUL CHAT-ULUI — răspunsul la întrebarea de la început</a:t>
            </a:r>
          </a:p>
          <a:p>
            <a:pPr algn="l">
              <a:spcAft>
                <a:spcPts val="300"/>
              </a:spcAft>
            </a:pPr>
            <a:r>
              <a:rPr lang="ro-RO" sz="1700" b="0" i="0">
                <a:solidFill>
                  <a:srgbClr val="FFFFFF"/>
                </a:solidFill>
                <a:latin typeface="Calibri"/>
              </a:rPr>
              <a:t>Chat-ul este TEHNIC asincron  (mesajul e stocat pe server până când destinatarul îl deschide),</a:t>
            </a:r>
          </a:p>
          <a:p>
            <a:pPr algn="l">
              <a:spcAft>
                <a:spcPts val="0"/>
              </a:spcAft>
            </a:pPr>
            <a:r>
              <a:rPr lang="ro-RO" sz="1700" b="1" i="0">
                <a:solidFill>
                  <a:srgbClr val="2AB7CA"/>
                </a:solidFill>
                <a:latin typeface="Calibri"/>
              </a:rPr>
              <a:t>dar este SOCIAL sincron  (ne așteptăm la un răspuns rapid).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50" b="1" i="0" dirty="0">
                <a:solidFill>
                  <a:srgbClr val="142A4C"/>
                </a:solidFill>
                <a:latin typeface="Calibri"/>
              </a:rPr>
              <a:t>👉  De aici vine frustrarea: tehnologia zice „când poți”, iar noi așteptăm „chiar acum”.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TextBox 12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NOȚIUNI · CANALE (2)</a:t>
            </a:r>
          </a:p>
          <a:p>
            <a:pPr algn="l">
              <a:spcAft>
                <a:spcPts val="0"/>
              </a:spcAft>
            </a:pPr>
            <a:r>
              <a:rPr lang="ro-RO" sz="2700" b="1" i="0">
                <a:solidFill>
                  <a:srgbClr val="FFFFFF"/>
                </a:solidFill>
                <a:latin typeface="Calibri"/>
              </a:rPr>
              <a:t>Comunicarea asincronă — când timpul nu presează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4754880" cy="19659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ro-RO" sz="1900" b="1" i="0">
                <a:solidFill>
                  <a:srgbClr val="142A4C"/>
                </a:solidFill>
                <a:latin typeface="Calibri"/>
              </a:rPr>
              <a:t>a.   ✉   E-mail-ul</a:t>
            </a:r>
          </a:p>
          <a:p>
            <a:pPr algn="l">
              <a:spcAft>
                <a:spcPts val="8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Varianta modernă și oficială a scrisorii în plic.</a:t>
            </a:r>
          </a:p>
          <a:p>
            <a:pPr algn="l">
              <a:spcAft>
                <a:spcPts val="400"/>
              </a:spcAft>
            </a:pPr>
            <a:r>
              <a:rPr lang="ro-RO" sz="1600" b="1" i="0">
                <a:solidFill>
                  <a:srgbClr val="2E9E6B"/>
                </a:solidFill>
                <a:latin typeface="Calibri"/>
              </a:rPr>
              <a:t>•  Lasă o „urmă” clară a discuției.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Context formal: profesori, instituții, un viitor angajator.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TextBox 7"/>
          <p:cNvSpPr txBox="1"/>
          <p:nvPr/>
        </p:nvSpPr>
        <p:spPr>
          <a:xfrm>
            <a:off x="6537960" y="1664208"/>
            <a:ext cx="4754880" cy="19659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ro-RO" sz="1900" b="1" i="0">
                <a:solidFill>
                  <a:srgbClr val="142A4C"/>
                </a:solidFill>
                <a:latin typeface="Calibri"/>
              </a:rPr>
              <a:t>b.   🗂   Forumuri și platforme de discuții</a:t>
            </a:r>
          </a:p>
          <a:p>
            <a:pPr algn="l">
              <a:spcAft>
                <a:spcPts val="80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Reddit · forumuri IT / de gaming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Oameni cu pasiuni comune, întrebări detaliate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Răspunsuri de la comunitate în zile sau săptămâni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Conversații organizate pe teme, se pot citi și mai târziu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TextBox 9"/>
          <p:cNvSpPr txBox="1"/>
          <p:nvPr/>
        </p:nvSpPr>
        <p:spPr>
          <a:xfrm>
            <a:off x="960120" y="4096512"/>
            <a:ext cx="10241280" cy="6400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50" b="1" i="0">
                <a:solidFill>
                  <a:srgbClr val="142A4C"/>
                </a:solidFill>
                <a:latin typeface="Calibri"/>
              </a:rPr>
              <a:t>🎮   Ai avut vreodată o problemă la PC sau într-un joc și ai ajuns pe Reddit căutând pe Google?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5A6676"/>
                </a:solidFill>
                <a:latin typeface="Calibri"/>
              </a:rPr>
              <a:t>Ai folosit comunicare asincronă — un răspuns scris acum doi ani te-a ajutat astăzi.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83480"/>
            <a:ext cx="10881360" cy="1225296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22225">
            <a:solidFill>
              <a:srgbClr val="F2A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Rectangle 11"/>
          <p:cNvSpPr/>
          <p:nvPr/>
        </p:nvSpPr>
        <p:spPr>
          <a:xfrm>
            <a:off x="640080" y="4983480"/>
            <a:ext cx="82296" cy="1225296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TextBox 12"/>
          <p:cNvSpPr txBox="1"/>
          <p:nvPr/>
        </p:nvSpPr>
        <p:spPr>
          <a:xfrm>
            <a:off x="914400" y="5111496"/>
            <a:ext cx="10378440" cy="9966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ro-RO" sz="1600" b="1" i="0">
                <a:solidFill>
                  <a:srgbClr val="9A6B06"/>
                </a:solidFill>
                <a:latin typeface="Calibri"/>
              </a:rPr>
              <a:t>📝  DE NOTAT ÎN CAIET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4A3810"/>
                </a:solidFill>
                <a:latin typeface="Calibri"/>
              </a:rPr>
              <a:t>•  Canale sincrone: apel telefonic, apel video/videoconferință, chat activ.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4A3810"/>
                </a:solidFill>
                <a:latin typeface="Calibri"/>
              </a:rPr>
              <a:t>•  Canale asincrone: e-mail, forum, mesaj pe rețele sociale.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TextBox 14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AB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NOȚIUNI · CANALE (3)</a:t>
            </a:r>
          </a:p>
          <a:p>
            <a:pPr algn="l">
              <a:spcAft>
                <a:spcPts val="0"/>
              </a:spcAft>
            </a:pPr>
            <a:r>
              <a:rPr lang="ro-RO" sz="2700" b="1" i="0">
                <a:solidFill>
                  <a:srgbClr val="FFFFFF"/>
                </a:solidFill>
                <a:latin typeface="Calibri"/>
              </a:rPr>
              <a:t>Comunicarea „unul către mulți” (informarea)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700" b="0" i="0">
                <a:solidFill>
                  <a:srgbClr val="5A6676"/>
                </a:solidFill>
                <a:latin typeface="Calibri"/>
              </a:rPr>
              <a:t>Cineva transmite o informație, iar o mulțime de oameni o citesc — fără să existe neapărat un dialog direct.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4754880" cy="12801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ro-RO" sz="1800" b="1" i="0">
                <a:solidFill>
                  <a:srgbClr val="142A4C"/>
                </a:solidFill>
                <a:latin typeface="Calibri"/>
              </a:rPr>
              <a:t>a.   🌐   Site-urile web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Sunt „vitrine digitale” deschise non-stop.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TextBox 8"/>
          <p:cNvSpPr txBox="1"/>
          <p:nvPr/>
        </p:nvSpPr>
        <p:spPr>
          <a:xfrm>
            <a:off x="6537960" y="2029968"/>
            <a:ext cx="4754880" cy="12801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ro-RO" sz="1800" b="1" i="0">
                <a:solidFill>
                  <a:srgbClr val="142A4C"/>
                </a:solidFill>
                <a:latin typeface="Calibri"/>
              </a:rPr>
              <a:t>b.   📰   Buletine informative (Newsletters)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Ajung în căsuța de e-mail a celor abonați.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Te-ai abonat la noutățile jocului preferat? Acela e un newsletter.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1188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3ECFB"/>
          </a:solidFill>
          <a:ln w="15875">
            <a:solidFill>
              <a:srgbClr val="8B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10241280" cy="10972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ro-RO" sz="1800" b="1" i="0">
                <a:solidFill>
                  <a:srgbClr val="5B2EA8"/>
                </a:solidFill>
                <a:latin typeface="Calibri"/>
              </a:rPr>
              <a:t>📸   Rețelele de socializare (social media)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Scopul principal: conectarea socială și crearea unei imagini publice.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Instagram · TikTok · Facebook · X (fostul Twitter) — combină text, imagini și video ca să îți spui „povestea” și să urmărești ce fac alții.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66360"/>
            <a:ext cx="10881360" cy="1225296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22225">
            <a:solidFill>
              <a:srgbClr val="F2A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Rectangle 12"/>
          <p:cNvSpPr/>
          <p:nvPr/>
        </p:nvSpPr>
        <p:spPr>
          <a:xfrm>
            <a:off x="640080" y="5166360"/>
            <a:ext cx="82296" cy="1225296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914400" y="5294376"/>
            <a:ext cx="10378440" cy="9966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ro-RO" sz="1600" b="1" i="0">
                <a:solidFill>
                  <a:srgbClr val="9A6B06"/>
                </a:solidFill>
                <a:latin typeface="Calibri"/>
              </a:rPr>
              <a:t>📝  DE NOTAT ÎN CAIET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4A3810"/>
                </a:solidFill>
                <a:latin typeface="Calibri"/>
              </a:rPr>
              <a:t>•  „Unul către mulți” = informare fără dialog direct: site-uri web, newslettere.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4A3810"/>
                </a:solidFill>
                <a:latin typeface="Calibri"/>
              </a:rPr>
              <a:t>•  Rețele de socializare: conectare socială + imagine publică (Instagram, TikTok, Facebook, X).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6" name="TextBox 15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SINTEZĂ INTERMEDIARĂ</a:t>
            </a:r>
          </a:p>
          <a:p>
            <a:pPr algn="l">
              <a:spcAft>
                <a:spcPts val="0"/>
              </a:spcAft>
            </a:pPr>
            <a:r>
              <a:rPr lang="ro-RO" sz="2700" b="1" i="0">
                <a:solidFill>
                  <a:srgbClr val="FFFFFF"/>
                </a:solidFill>
                <a:latin typeface="Calibri"/>
              </a:rPr>
              <a:t>Harta canalelor de comunicare digitală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697480" cy="566928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2423160" cy="4114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ro-RO" sz="1600" b="1" i="0">
                <a:solidFill>
                  <a:srgbClr val="FFFFFF"/>
                </a:solidFill>
                <a:latin typeface="Calibri"/>
              </a:rPr>
              <a:t>⚡  SINCRON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31720"/>
            <a:ext cx="2286000" cy="2286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Apel telefonic</a:t>
            </a:r>
          </a:p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Apel video /</a:t>
            </a:r>
          </a:p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videoconferință</a:t>
            </a:r>
          </a:p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Chat activ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55448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3447288" y="1554480"/>
            <a:ext cx="2697480" cy="56692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3584448" y="1673352"/>
            <a:ext cx="2423160" cy="4114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ro-RO" sz="1600" b="1" i="0">
                <a:solidFill>
                  <a:srgbClr val="FFFFFF"/>
                </a:solidFill>
                <a:latin typeface="Calibri"/>
              </a:rPr>
              <a:t>🕒  ASINCRON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2331720"/>
            <a:ext cx="2286000" cy="2286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E-mail</a:t>
            </a:r>
          </a:p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Forumuri</a:t>
            </a:r>
          </a:p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Mesaje pe rețele</a:t>
            </a:r>
          </a:p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sociale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55448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AB7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4" name="Rectangle 13"/>
          <p:cNvSpPr/>
          <p:nvPr/>
        </p:nvSpPr>
        <p:spPr>
          <a:xfrm>
            <a:off x="6254496" y="1554480"/>
            <a:ext cx="2697480" cy="566928"/>
          </a:xfrm>
          <a:prstGeom prst="rect">
            <a:avLst/>
          </a:prstGeom>
          <a:solidFill>
            <a:srgbClr val="2AB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TextBox 14"/>
          <p:cNvSpPr txBox="1"/>
          <p:nvPr/>
        </p:nvSpPr>
        <p:spPr>
          <a:xfrm>
            <a:off x="6391656" y="1673352"/>
            <a:ext cx="2423160" cy="4114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ro-RO" sz="1600" b="1" i="0">
                <a:solidFill>
                  <a:srgbClr val="FFFFFF"/>
                </a:solidFill>
                <a:latin typeface="Calibri"/>
              </a:rPr>
              <a:t>📢  UNUL → MULȚI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331720"/>
            <a:ext cx="2286000" cy="2286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Site-uri web</a:t>
            </a:r>
          </a:p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Newslettere</a:t>
            </a:r>
          </a:p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(informare,</a:t>
            </a:r>
          </a:p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fără dialog)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55448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2A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8" name="Rectangle 17"/>
          <p:cNvSpPr/>
          <p:nvPr/>
        </p:nvSpPr>
        <p:spPr>
          <a:xfrm>
            <a:off x="9061704" y="1554480"/>
            <a:ext cx="2697480" cy="566928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9" name="TextBox 18"/>
          <p:cNvSpPr txBox="1"/>
          <p:nvPr/>
        </p:nvSpPr>
        <p:spPr>
          <a:xfrm>
            <a:off x="9198864" y="1673352"/>
            <a:ext cx="2423160" cy="4114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ro-RO" sz="1600" b="1" i="0">
                <a:solidFill>
                  <a:srgbClr val="FFFFFF"/>
                </a:solidFill>
                <a:latin typeface="Calibri"/>
              </a:rPr>
              <a:t>📊 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2331720"/>
            <a:ext cx="2286000" cy="2286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Formulare online</a:t>
            </a:r>
          </a:p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(Google Forms)</a:t>
            </a:r>
          </a:p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Colectare</a:t>
            </a:r>
          </a:p>
          <a:p>
            <a:pPr algn="ctr">
              <a:spcAft>
                <a:spcPts val="6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organizată de 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8348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2" name="TextBox 21"/>
          <p:cNvSpPr txBox="1"/>
          <p:nvPr/>
        </p:nvSpPr>
        <p:spPr>
          <a:xfrm>
            <a:off x="960120" y="5166360"/>
            <a:ext cx="10241280" cy="7772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o-RO" sz="1800" b="1" i="0">
                <a:solidFill>
                  <a:srgbClr val="F2A61D"/>
                </a:solidFill>
                <a:latin typeface="Calibri"/>
              </a:rPr>
              <a:t>🎯   Regula de bază: alege canalul după CE vrei să obții, nu după ce ai la îndemână.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FFFFFF"/>
                </a:solidFill>
                <a:latin typeface="Calibri"/>
              </a:rPr>
              <a:t>Un răspuns urgent? Sincron.   ·   O explicație lungă și oficială? Asincron.   ·   Părerea a 30 de colegi? Formular.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NOȚIUNI · COLECTAREA DE INFORMAȚII ȘI FEEDBACK</a:t>
            </a:r>
          </a:p>
          <a:p>
            <a:pPr algn="l">
              <a:spcAft>
                <a:spcPts val="0"/>
              </a:spcAft>
            </a:pPr>
            <a:r>
              <a:rPr lang="ro-RO" sz="2700" b="1" i="0">
                <a:solidFill>
                  <a:srgbClr val="FFFFFF"/>
                </a:solidFill>
                <a:latin typeface="Calibri"/>
              </a:rPr>
              <a:t>Cum afli părerea multor oameni, rapid și organizat?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57800" cy="320040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5875">
            <a:solidFill>
              <a:srgbClr val="E5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28803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lang="ro-RO" sz="1900" b="1" i="0">
                <a:solidFill>
                  <a:srgbClr val="B02E2E"/>
                </a:solidFill>
                <a:latin typeface="Calibri"/>
              </a:rPr>
              <a:t>❌   Varianta „pe grup”</a:t>
            </a:r>
          </a:p>
          <a:p>
            <a:pPr algn="l">
              <a:spcAft>
                <a:spcPts val="10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Întrebi pe WhatsApp cine vine în excursie, ce meniu vrea, ce obiective preferă…</a:t>
            </a:r>
          </a:p>
          <a:p>
            <a:pPr algn="l">
              <a:spcAft>
                <a:spcPts val="5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200 de mesaje amestecate</a:t>
            </a:r>
          </a:p>
          <a:p>
            <a:pPr algn="l">
              <a:spcAft>
                <a:spcPts val="5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Răspunsuri pierdute printre glume și stickere</a:t>
            </a:r>
          </a:p>
          <a:p>
            <a:pPr algn="l">
              <a:spcAft>
                <a:spcPts val="5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Numeri de trei ori și de fiecare dată iese altceva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257800" cy="3200400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TextBox 7"/>
          <p:cNvSpPr txBox="1"/>
          <p:nvPr/>
        </p:nvSpPr>
        <p:spPr>
          <a:xfrm>
            <a:off x="6537960" y="1737360"/>
            <a:ext cx="4754880" cy="28803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lang="ro-RO" sz="1900" b="1" i="0">
                <a:solidFill>
                  <a:srgbClr val="1D6E4A"/>
                </a:solidFill>
                <a:latin typeface="Calibri"/>
              </a:rPr>
              <a:t>✅   Varianta cu formular</a:t>
            </a:r>
          </a:p>
          <a:p>
            <a:pPr algn="l">
              <a:spcAft>
                <a:spcPts val="10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Trimiți un formular online (ex.: Google Forms).</a:t>
            </a:r>
          </a:p>
          <a:p>
            <a:pPr algn="l">
              <a:spcAft>
                <a:spcPts val="5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Datele intră în câmpuri clare</a:t>
            </a:r>
          </a:p>
          <a:p>
            <a:pPr algn="l">
              <a:spcAft>
                <a:spcPts val="5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Toate răspunsurile se centralizează într-un singur loc</a:t>
            </a:r>
          </a:p>
          <a:p>
            <a:pPr algn="l">
              <a:spcAft>
                <a:spcPts val="50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•  Se pot exporta automat într-o foaie de calcul</a:t>
            </a:r>
          </a:p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2E9E6B"/>
                </a:solidFill>
                <a:latin typeface="Calibri"/>
              </a:rPr>
              <a:t>Simplu, eficient și organizat!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37760"/>
            <a:ext cx="10881360" cy="896112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22225">
            <a:solidFill>
              <a:srgbClr val="F2A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640080" y="4937760"/>
            <a:ext cx="82296" cy="896112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914400" y="5065776"/>
            <a:ext cx="10378440" cy="66751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ro-RO" sz="1600" b="1" i="0">
                <a:solidFill>
                  <a:srgbClr val="9A6B06"/>
                </a:solidFill>
                <a:latin typeface="Calibri"/>
              </a:rPr>
              <a:t>📝  DE NOTAT ÎN CAIET</a:t>
            </a:r>
          </a:p>
          <a:p>
            <a:pPr algn="l">
              <a:spcAft>
                <a:spcPts val="400"/>
              </a:spcAft>
            </a:pPr>
            <a:r>
              <a:rPr lang="ro-RO" sz="1600" b="0" i="0">
                <a:solidFill>
                  <a:srgbClr val="4A3810"/>
                </a:solidFill>
                <a:latin typeface="Calibri"/>
              </a:rPr>
              <a:t>•  Formularul online = instrument digital de colectare organizată a informațiilor și a feedback-ului (ex.: Google Forms).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TextBox 12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APLICAȚIE PRACTICĂ · GOOGLE FORMS</a:t>
            </a:r>
          </a:p>
          <a:p>
            <a:pPr algn="l">
              <a:spcAft>
                <a:spcPts val="0"/>
              </a:spcAft>
            </a:pPr>
            <a:r>
              <a:rPr lang="ro-RO" sz="2700" b="1" i="0">
                <a:solidFill>
                  <a:srgbClr val="FFFFFF"/>
                </a:solidFill>
                <a:latin typeface="Calibri"/>
              </a:rPr>
              <a:t>Descoperă! Cum creezi un formular în 5 pași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563624"/>
            <a:ext cx="566928" cy="566928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481328"/>
            <a:ext cx="10058400" cy="7315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/>
          <p:cNvSpPr txBox="1"/>
          <p:nvPr/>
        </p:nvSpPr>
        <p:spPr>
          <a:xfrm>
            <a:off x="1691640" y="1563624"/>
            <a:ext cx="9692640" cy="62179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650" b="1" i="0">
                <a:solidFill>
                  <a:srgbClr val="142A4C"/>
                </a:solidFill>
                <a:latin typeface="Calibri"/>
              </a:rPr>
              <a:t>Deschizi Google Drive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5A6676"/>
                </a:solidFill>
                <a:latin typeface="Calibri"/>
              </a:rPr>
              <a:t>drive.google.com și te autentifici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386584"/>
            <a:ext cx="566928" cy="566928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2304288"/>
            <a:ext cx="10058400" cy="7315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TextBox 9"/>
          <p:cNvSpPr txBox="1"/>
          <p:nvPr/>
        </p:nvSpPr>
        <p:spPr>
          <a:xfrm>
            <a:off x="1691640" y="2386584"/>
            <a:ext cx="9692640" cy="62179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650" b="1" i="0">
                <a:solidFill>
                  <a:srgbClr val="142A4C"/>
                </a:solidFill>
                <a:latin typeface="Calibri"/>
              </a:rPr>
              <a:t>Apeși +Nou / +New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5A6676"/>
                </a:solidFill>
                <a:latin typeface="Calibri"/>
              </a:rPr>
              <a:t>și alegi Formulare Google / Google Forms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209544"/>
            <a:ext cx="566928" cy="566928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3127248"/>
            <a:ext cx="10058400" cy="7315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TextBox 12"/>
          <p:cNvSpPr txBox="1"/>
          <p:nvPr/>
        </p:nvSpPr>
        <p:spPr>
          <a:xfrm>
            <a:off x="1691640" y="3209544"/>
            <a:ext cx="9692640" cy="62179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650" b="1" i="0">
                <a:solidFill>
                  <a:srgbClr val="142A4C"/>
                </a:solidFill>
                <a:latin typeface="Calibri"/>
              </a:rPr>
              <a:t>Scrii titlul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5A6676"/>
                </a:solidFill>
                <a:latin typeface="Calibri"/>
              </a:rPr>
              <a:t>și o scurtă descriere a rolului formularului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032504"/>
            <a:ext cx="566928" cy="566928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3950208"/>
            <a:ext cx="10058400" cy="7315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6" name="TextBox 15"/>
          <p:cNvSpPr txBox="1"/>
          <p:nvPr/>
        </p:nvSpPr>
        <p:spPr>
          <a:xfrm>
            <a:off x="1691640" y="4032504"/>
            <a:ext cx="9692640" cy="62179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650" b="1" i="0">
                <a:solidFill>
                  <a:srgbClr val="142A4C"/>
                </a:solidFill>
                <a:latin typeface="Calibri"/>
              </a:rPr>
              <a:t>Adaugi întrebările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5A6676"/>
                </a:solidFill>
                <a:latin typeface="Calibri"/>
              </a:rPr>
              <a:t>Nume (Răspuns scurt) · Telefon (Răspuns scurt) · Opțiunea de meniu (Răspunsuri multiple) · Obiectiv turistic (Răspunsuri multiple)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855464"/>
            <a:ext cx="566928" cy="566928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4773168"/>
            <a:ext cx="10058400" cy="7315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9" name="TextBox 18"/>
          <p:cNvSpPr txBox="1"/>
          <p:nvPr/>
        </p:nvSpPr>
        <p:spPr>
          <a:xfrm>
            <a:off x="1691640" y="4855464"/>
            <a:ext cx="9692640" cy="62179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650" b="1" i="0">
                <a:solidFill>
                  <a:srgbClr val="142A4C"/>
                </a:solidFill>
                <a:latin typeface="Calibri"/>
              </a:rPr>
              <a:t>Apeși trimitere / publicare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5A6676"/>
                </a:solidFill>
                <a:latin typeface="Calibri"/>
              </a:rPr>
              <a:t>copiezi linkul formularului și îl transmiți colegilor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669280"/>
            <a:ext cx="10835640" cy="594360"/>
          </a:xfrm>
          <a:prstGeom prst="roundRect">
            <a:avLst>
              <a:gd name="adj" fmla="val 6000"/>
            </a:avLst>
          </a:prstGeom>
          <a:solidFill>
            <a:srgbClr val="E8F4F7"/>
          </a:solidFill>
          <a:ln w="15875">
            <a:solidFill>
              <a:srgbClr val="2AB7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1" name="TextBox 20"/>
          <p:cNvSpPr txBox="1"/>
          <p:nvPr/>
        </p:nvSpPr>
        <p:spPr>
          <a:xfrm>
            <a:off x="960120" y="5788152"/>
            <a:ext cx="10332720" cy="4114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🧪   Exercițiu la clasă: creează chiar acum formularul pentru excursia clasei și trimite linkul colegului de bancă.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3" name="TextBox 22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 animBg="1"/>
      <p:bldP spid="18" grpId="0" animBg="1"/>
      <p:bldP spid="19" grpId="0"/>
      <p:bldP spid="20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AB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NOȚIUNI · TABELUL 1 DIN MANUAL</a:t>
            </a:r>
          </a:p>
          <a:p>
            <a:pPr algn="l">
              <a:spcAft>
                <a:spcPts val="0"/>
              </a:spcAft>
            </a:pPr>
            <a:r>
              <a:rPr lang="ro-RO" sz="2700" b="1" i="0">
                <a:solidFill>
                  <a:srgbClr val="FFFFFF"/>
                </a:solidFill>
                <a:latin typeface="Calibri"/>
              </a:rPr>
              <a:t>Tipurile de întrebări dintr-un formular (I)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881360" cy="310896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TextBox 5"/>
          <p:cNvSpPr txBox="1"/>
          <p:nvPr/>
        </p:nvSpPr>
        <p:spPr>
          <a:xfrm>
            <a:off x="868680" y="1307592"/>
            <a:ext cx="10424160" cy="25603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TEXT — ÎNTREBĂRI CARE NECESITĂ INTRODUCEREA DE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2880360" cy="53035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 dirty="0">
                <a:solidFill>
                  <a:srgbClr val="142A4C"/>
                </a:solidFill>
                <a:latin typeface="Calibri"/>
              </a:rPr>
              <a:t>Răspuns scurt</a:t>
            </a:r>
          </a:p>
          <a:p>
            <a:pPr algn="l">
              <a:spcAft>
                <a:spcPts val="0"/>
              </a:spcAft>
            </a:pPr>
            <a:r>
              <a:rPr lang="ro-RO" sz="1600" b="0" i="1" dirty="0">
                <a:solidFill>
                  <a:srgbClr val="1E6FD9"/>
                </a:solidFill>
                <a:latin typeface="Calibri"/>
              </a:rPr>
              <a:t>Short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700784"/>
            <a:ext cx="434340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Text scurt, de obicei de un rând: nume, clasă, e-mail, telefon.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700784"/>
            <a:ext cx="301752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2E6E4E"/>
                </a:solidFill>
                <a:latin typeface="Calibri"/>
              </a:rPr>
              <a:t>„Care este numele tău complet?”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13432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TextBox 11"/>
          <p:cNvSpPr txBox="1"/>
          <p:nvPr/>
        </p:nvSpPr>
        <p:spPr>
          <a:xfrm>
            <a:off x="868680" y="2368296"/>
            <a:ext cx="2880360" cy="53035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Paragraf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Paragraph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368296"/>
            <a:ext cx="434340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Spațiu mai mare: explicații, opinii, feedback deschis.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368296"/>
            <a:ext cx="301752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2E6E4E"/>
                </a:solidFill>
                <a:latin typeface="Calibri"/>
              </a:rPr>
              <a:t>„Ce ai îmbunătăți la acest proiect?”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80944"/>
            <a:ext cx="10881360" cy="310896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6" name="TextBox 15"/>
          <p:cNvSpPr txBox="1"/>
          <p:nvPr/>
        </p:nvSpPr>
        <p:spPr>
          <a:xfrm>
            <a:off x="868680" y="3008376"/>
            <a:ext cx="10424160" cy="25603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ALEGERE DIN VARIANTE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46704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8" name="TextBox 17"/>
          <p:cNvSpPr txBox="1"/>
          <p:nvPr/>
        </p:nvSpPr>
        <p:spPr>
          <a:xfrm>
            <a:off x="868680" y="3401568"/>
            <a:ext cx="2880360" cy="53035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Alegere multiplă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Multiple choice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401568"/>
            <a:ext cx="434340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O SINGURĂ variantă dintr-o listă. Se poate adăuga și opțiunea Altul.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401568"/>
            <a:ext cx="301752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2E6E4E"/>
                </a:solidFill>
                <a:latin typeface="Calibri"/>
              </a:rPr>
              <a:t>„Ce browser folosești cel mai des?”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14216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2" name="TextBox 21"/>
          <p:cNvSpPr txBox="1"/>
          <p:nvPr/>
        </p:nvSpPr>
        <p:spPr>
          <a:xfrm>
            <a:off x="868680" y="4069080"/>
            <a:ext cx="2880360" cy="53035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Casete de selectare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Checkboxes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069080"/>
            <a:ext cx="434340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Una SAU mai multe variante, când mai multe pot fi adevărate.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069080"/>
            <a:ext cx="301752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2E6E4E"/>
                </a:solidFill>
                <a:latin typeface="Calibri"/>
              </a:rPr>
              <a:t>„Ce aplicații ai folosit pentru proiect?”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81728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6" name="TextBox 25"/>
          <p:cNvSpPr txBox="1"/>
          <p:nvPr/>
        </p:nvSpPr>
        <p:spPr>
          <a:xfrm>
            <a:off x="868680" y="4736592"/>
            <a:ext cx="2880360" cy="53035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Listă derulantă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Dropdown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4736592"/>
            <a:ext cx="434340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O variantă dintr-o listă care se deschide la clic. Utilă la liste lungi.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736592"/>
            <a:ext cx="301752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2E6E4E"/>
                </a:solidFill>
                <a:latin typeface="Calibri"/>
              </a:rPr>
              <a:t>„Alege localitatea în care locuiești.”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49240"/>
            <a:ext cx="10881360" cy="310896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0" name="TextBox 29"/>
          <p:cNvSpPr txBox="1"/>
          <p:nvPr/>
        </p:nvSpPr>
        <p:spPr>
          <a:xfrm>
            <a:off x="868680" y="5376672"/>
            <a:ext cx="10424160" cy="25603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ÎNCĂRCARE FIȘIERE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715000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2" name="TextBox 31"/>
          <p:cNvSpPr txBox="1"/>
          <p:nvPr/>
        </p:nvSpPr>
        <p:spPr>
          <a:xfrm>
            <a:off x="868680" y="5769864"/>
            <a:ext cx="2880360" cy="53035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Încărcare fișier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File upload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5769864"/>
            <a:ext cx="434340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Documente, imagini, arhive, capturi de ecran (cere cont Google).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769864"/>
            <a:ext cx="301752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2E6E4E"/>
                </a:solidFill>
                <a:latin typeface="Calibri"/>
              </a:rPr>
              <a:t>„Încarcă tema realizată în Word.”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6" name="TextBox 35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 animBg="1"/>
      <p:bldP spid="26" grpId="0"/>
      <p:bldP spid="27" grpId="0"/>
      <p:bldP spid="28" grpId="0"/>
      <p:bldP spid="29" grpId="0" animBg="1"/>
      <p:bldP spid="30" grpId="0"/>
      <p:bldP spid="31" grpId="0" animBg="1"/>
      <p:bldP spid="32" grpId="0"/>
      <p:bldP spid="33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AB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NOȚIUNI · TABELUL 1 DIN MANUAL</a:t>
            </a:r>
          </a:p>
          <a:p>
            <a:pPr algn="l">
              <a:spcAft>
                <a:spcPts val="0"/>
              </a:spcAft>
            </a:pPr>
            <a:r>
              <a:rPr lang="ro-RO" sz="2700" b="1" i="0">
                <a:solidFill>
                  <a:srgbClr val="FFFFFF"/>
                </a:solidFill>
                <a:latin typeface="Calibri"/>
              </a:rPr>
              <a:t>Tipurile de întrebări dintr-un formular (II)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881360" cy="310896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TextBox 5"/>
          <p:cNvSpPr txBox="1"/>
          <p:nvPr/>
        </p:nvSpPr>
        <p:spPr>
          <a:xfrm>
            <a:off x="868680" y="1307592"/>
            <a:ext cx="10424160" cy="25603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APRECIERE SAU EVALUARE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2880360" cy="53035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Scară liniară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Linear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700784"/>
            <a:ext cx="434340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O valoare pe o scară (1–5, 1–10): acord, satisfacție, dificultate.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700784"/>
            <a:ext cx="301752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2E6E4E"/>
                </a:solidFill>
                <a:latin typeface="Calibri"/>
              </a:rPr>
              <a:t>„Cât de dificil ți s-a părut exercițiul?”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13432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TextBox 11"/>
          <p:cNvSpPr txBox="1"/>
          <p:nvPr/>
        </p:nvSpPr>
        <p:spPr>
          <a:xfrm>
            <a:off x="868680" y="2368296"/>
            <a:ext cx="2880360" cy="53035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Evaluare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Rating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368296"/>
            <a:ext cx="434340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Un număr de simboluri (stele, inimi). Feedback rapid și vizual.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368296"/>
            <a:ext cx="301752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2E6E4E"/>
                </a:solidFill>
                <a:latin typeface="Calibri"/>
              </a:rPr>
              <a:t>„Câte stele acorzi prezentării colegilor?”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80944"/>
            <a:ext cx="10881360" cy="310896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6" name="TextBox 15"/>
          <p:cNvSpPr txBox="1"/>
          <p:nvPr/>
        </p:nvSpPr>
        <p:spPr>
          <a:xfrm>
            <a:off x="868680" y="3008376"/>
            <a:ext cx="10424160" cy="25603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GRILĂ / MATRICE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46704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8" name="TextBox 17"/>
          <p:cNvSpPr txBox="1"/>
          <p:nvPr/>
        </p:nvSpPr>
        <p:spPr>
          <a:xfrm>
            <a:off x="868680" y="3401568"/>
            <a:ext cx="2880360" cy="53035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Grilă cu alegere multiplă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Multiple choice grid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401568"/>
            <a:ext cx="434340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Evaluezi mai multe elemente în același tabel; un răspuns pe rând.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401568"/>
            <a:ext cx="301752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2E6E4E"/>
                </a:solidFill>
                <a:latin typeface="Calibri"/>
              </a:rPr>
              <a:t>Rânduri: Word, Excel · Coloane: Ușor, Dificil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14216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2" name="TextBox 21"/>
          <p:cNvSpPr txBox="1"/>
          <p:nvPr/>
        </p:nvSpPr>
        <p:spPr>
          <a:xfrm>
            <a:off x="868680" y="4069080"/>
            <a:ext cx="2880360" cy="53035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Grilă cu casete de selectare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Checkbox grid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069080"/>
            <a:ext cx="434340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Ca grila multiplă, dar permite mai multe răspunsuri pe același rând.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069080"/>
            <a:ext cx="301752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2E6E4E"/>
                </a:solidFill>
                <a:latin typeface="Calibri"/>
              </a:rPr>
              <a:t>Rânduri: Tema 1, Tema 2 · Coloane: documentare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81728"/>
            <a:ext cx="10881360" cy="310896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6" name="TextBox 25"/>
          <p:cNvSpPr txBox="1"/>
          <p:nvPr/>
        </p:nvSpPr>
        <p:spPr>
          <a:xfrm>
            <a:off x="868680" y="4709160"/>
            <a:ext cx="10424160" cy="25603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DATĂ ȘI TIMP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047488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8" name="TextBox 27"/>
          <p:cNvSpPr txBox="1"/>
          <p:nvPr/>
        </p:nvSpPr>
        <p:spPr>
          <a:xfrm>
            <a:off x="868680" y="5102352"/>
            <a:ext cx="2880360" cy="53035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Dată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5102352"/>
            <a:ext cx="434340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Selectarea unei date: programări, termene, zile de naștere.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5102352"/>
            <a:ext cx="301752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2E6E4E"/>
                </a:solidFill>
                <a:latin typeface="Calibri"/>
              </a:rPr>
              <a:t>„Care este data nașterii?”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715000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2" name="TextBox 31"/>
          <p:cNvSpPr txBox="1"/>
          <p:nvPr/>
        </p:nvSpPr>
        <p:spPr>
          <a:xfrm>
            <a:off x="868680" y="5769864"/>
            <a:ext cx="2880360" cy="53035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142A4C"/>
                </a:solidFill>
                <a:latin typeface="Calibri"/>
              </a:rPr>
              <a:t>Oră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1E6FD9"/>
                </a:solidFill>
                <a:latin typeface="Calibri"/>
              </a:rPr>
              <a:t>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5769864"/>
            <a:ext cx="434340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O oră sau o durată: o întâlnire, estimarea timpului lucrat.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769864"/>
            <a:ext cx="3017520" cy="51206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2E6E4E"/>
                </a:solidFill>
                <a:latin typeface="Calibri"/>
              </a:rPr>
              <a:t>„Cât timp ai lucrat la proiect?”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6" name="TextBox 35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 animBg="1"/>
      <p:bldP spid="26" grpId="0"/>
      <p:bldP spid="27" grpId="0" animBg="1"/>
      <p:bldP spid="28" grpId="0"/>
      <p:bldP spid="29" grpId="0"/>
      <p:bldP spid="30" grpId="0"/>
      <p:bldP spid="31" grpId="0" animBg="1"/>
      <p:bldP spid="32" grpId="0"/>
      <p:bldP spid="33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📝 NOTIȚE</a:t>
            </a:r>
          </a:p>
          <a:p>
            <a:pPr algn="l">
              <a:spcAft>
                <a:spcPts val="0"/>
              </a:spcAft>
            </a:pPr>
            <a:r>
              <a:rPr lang="ro-RO" sz="2700" b="1" i="0">
                <a:solidFill>
                  <a:srgbClr val="FFFFFF"/>
                </a:solidFill>
                <a:latin typeface="Calibri"/>
              </a:rPr>
              <a:t>Sinteza despre formulare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2212848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22225">
            <a:solidFill>
              <a:srgbClr val="F2A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82296" cy="2212848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/>
          <p:cNvSpPr txBox="1"/>
          <p:nvPr/>
        </p:nvSpPr>
        <p:spPr>
          <a:xfrm>
            <a:off x="914400" y="1545336"/>
            <a:ext cx="10378440" cy="198424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ro-RO" sz="1600" b="1" i="0" dirty="0">
                <a:solidFill>
                  <a:srgbClr val="9A6B06"/>
                </a:solidFill>
                <a:latin typeface="Calibri"/>
              </a:rPr>
              <a:t>📝  DE NOTAT ÎN CAIET — Formulare</a:t>
            </a:r>
          </a:p>
          <a:p>
            <a:pPr algn="l">
              <a:spcAft>
                <a:spcPts val="400"/>
              </a:spcAft>
            </a:pPr>
            <a:r>
              <a:rPr lang="ro-RO" sz="1600" b="0" i="0" dirty="0">
                <a:solidFill>
                  <a:srgbClr val="4A3810"/>
                </a:solidFill>
                <a:latin typeface="Calibri"/>
              </a:rPr>
              <a:t>•  Formular online = instrument de colectare organizată a datelor și a feedback-ului (Google Forms).</a:t>
            </a:r>
          </a:p>
          <a:p>
            <a:pPr algn="l">
              <a:spcAft>
                <a:spcPts val="400"/>
              </a:spcAft>
            </a:pPr>
            <a:r>
              <a:rPr lang="ro-RO" sz="1600" b="0" i="0" dirty="0">
                <a:solidFill>
                  <a:srgbClr val="4A3810"/>
                </a:solidFill>
                <a:latin typeface="Calibri"/>
              </a:rPr>
              <a:t>•  Pași: Google Drive → +Nou → Google Forms → titlu + descriere → adaugi întrebări → trimiți linkul.</a:t>
            </a:r>
          </a:p>
          <a:p>
            <a:pPr algn="l">
              <a:spcAft>
                <a:spcPts val="400"/>
              </a:spcAft>
            </a:pPr>
            <a:r>
              <a:rPr lang="ro-RO" sz="1600" b="0" i="0" dirty="0">
                <a:solidFill>
                  <a:srgbClr val="4A3810"/>
                </a:solidFill>
                <a:latin typeface="Calibri"/>
              </a:rPr>
              <a:t>•  Tipuri de întrebări — TEXT: răspuns scurt, paragraf.</a:t>
            </a:r>
          </a:p>
          <a:p>
            <a:pPr algn="l">
              <a:spcAft>
                <a:spcPts val="400"/>
              </a:spcAft>
            </a:pPr>
            <a:r>
              <a:rPr lang="ro-RO" sz="1600" b="0" i="0" dirty="0">
                <a:solidFill>
                  <a:srgbClr val="4A3810"/>
                </a:solidFill>
                <a:latin typeface="Calibri"/>
              </a:rPr>
              <a:t>•  ALEGERE: alegere multiplă (UNA), casete de selectare (MAI MULTE), listă derulantă.</a:t>
            </a:r>
          </a:p>
          <a:p>
            <a:pPr algn="l">
              <a:spcAft>
                <a:spcPts val="400"/>
              </a:spcAft>
            </a:pPr>
            <a:r>
              <a:rPr lang="ro-RO" sz="1600" b="0" i="0" dirty="0">
                <a:solidFill>
                  <a:srgbClr val="4A3810"/>
                </a:solidFill>
                <a:latin typeface="Calibri"/>
              </a:rPr>
              <a:t>•  Încărcare fișier · APRECIERE: scară liniară, evaluare (rating) · GRILĂ (matrice) · DATĂ și ORĂ.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E8F4F7"/>
          </a:solidFill>
          <a:ln w="15875">
            <a:solidFill>
              <a:srgbClr val="2AB7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10241280" cy="10058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ro-RO" sz="1700" b="1" i="0">
                <a:solidFill>
                  <a:srgbClr val="142A4C"/>
                </a:solidFill>
                <a:latin typeface="Calibri"/>
              </a:rPr>
              <a:t>🔍   Cum vezi răspunsurile primite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1B222C"/>
                </a:solidFill>
                <a:latin typeface="Calibri"/>
              </a:rPr>
              <a:t>Google Drive → deschizi formularul → butonul Răspunsuri (Responses) → vezi răspunsurile grupate pe întrebări sau individual → poți crea un fișier cu toate răspunsurile într-o foaie de calcul.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0352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960120" y="5486400"/>
            <a:ext cx="10241280" cy="6858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o-RO" sz="1600" b="1" i="0">
                <a:solidFill>
                  <a:srgbClr val="F2A61D"/>
                </a:solidFill>
                <a:latin typeface="Calibri"/>
              </a:rPr>
              <a:t>🎯   Cum alegi tipul de întrebare?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FFFFFF"/>
                </a:solidFill>
                <a:latin typeface="Calibri"/>
              </a:rPr>
              <a:t>Un singur răspuns → Alegere multiplă   ·   Mai multe răspunsuri → Casete de selectare   ·   O părere în cuvinte → Paragraf   ·   O notă de la 1 la 10 → Scară liniară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TextBox 12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  <p:bldP spid="9" grpId="0"/>
      <p:bldP spid="10" grpId="0" animBg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RECAPITULARE</a:t>
            </a:r>
          </a:p>
          <a:p>
            <a:pPr algn="l">
              <a:spcAft>
                <a:spcPts val="0"/>
              </a:spcAft>
            </a:pPr>
            <a:r>
              <a:rPr lang="ro-RO" sz="2700" b="1" i="0">
                <a:solidFill>
                  <a:srgbClr val="FFFFFF"/>
                </a:solidFill>
                <a:latin typeface="Calibri"/>
              </a:rPr>
              <a:t>Ce am învățat astăzi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91440" cy="86868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64008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2400" b="0" i="0">
                <a:solidFill>
                  <a:srgbClr val="1B222C"/>
                </a:solidFill>
                <a:latin typeface="Calibri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00200"/>
            <a:ext cx="9601200" cy="6400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700" b="1" i="0">
                <a:solidFill>
                  <a:srgbClr val="142A4C"/>
                </a:solidFill>
                <a:latin typeface="Calibri"/>
              </a:rPr>
              <a:t>Comunicare digitală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5A6676"/>
                </a:solidFill>
                <a:latin typeface="Calibri"/>
              </a:rPr>
              <a:t>Transmiterea informațiilor prin dispozitive și servicii digitale.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0487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640080" y="2404872"/>
            <a:ext cx="91440" cy="868680"/>
          </a:xfrm>
          <a:prstGeom prst="rect">
            <a:avLst/>
          </a:prstGeom>
          <a:solidFill>
            <a:srgbClr val="2AB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64008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2400" b="0" i="0">
                <a:solidFill>
                  <a:srgbClr val="1B222C"/>
                </a:solidFill>
                <a:latin typeface="Calibr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42032"/>
            <a:ext cx="9601200" cy="6400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700" b="1" i="0">
                <a:solidFill>
                  <a:srgbClr val="142A4C"/>
                </a:solidFill>
                <a:latin typeface="Calibri"/>
              </a:rPr>
              <a:t>Sincron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5A6676"/>
                </a:solidFill>
                <a:latin typeface="Calibri"/>
              </a:rPr>
              <a:t>În timp real, răspuns imediat: apel telefonic, apel video, chat activ.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4670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4" name="Rectangle 13"/>
          <p:cNvSpPr/>
          <p:nvPr/>
        </p:nvSpPr>
        <p:spPr>
          <a:xfrm>
            <a:off x="640080" y="3346704"/>
            <a:ext cx="91440" cy="8686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TextBox 14"/>
          <p:cNvSpPr txBox="1"/>
          <p:nvPr/>
        </p:nvSpPr>
        <p:spPr>
          <a:xfrm>
            <a:off x="960120" y="3547872"/>
            <a:ext cx="64008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2400" b="0" i="0">
                <a:solidFill>
                  <a:srgbClr val="1B222C"/>
                </a:solidFill>
                <a:latin typeface="Calibri"/>
              </a:rPr>
              <a:t>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83864"/>
            <a:ext cx="9601200" cy="6400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700" b="1" i="0">
                <a:solidFill>
                  <a:srgbClr val="142A4C"/>
                </a:solidFill>
                <a:latin typeface="Calibri"/>
              </a:rPr>
              <a:t>Asincron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5A6676"/>
                </a:solidFill>
                <a:latin typeface="Calibri"/>
              </a:rPr>
              <a:t>Răspunsul vine mai târziu: e-mail, forum, mesaje pe rețele sociale.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8853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8" name="Rectangle 17"/>
          <p:cNvSpPr/>
          <p:nvPr/>
        </p:nvSpPr>
        <p:spPr>
          <a:xfrm>
            <a:off x="640080" y="4288536"/>
            <a:ext cx="91440" cy="868680"/>
          </a:xfrm>
          <a:prstGeom prst="rect">
            <a:avLst/>
          </a:prstGeom>
          <a:solidFill>
            <a:srgbClr val="8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9" name="TextBox 18"/>
          <p:cNvSpPr txBox="1"/>
          <p:nvPr/>
        </p:nvSpPr>
        <p:spPr>
          <a:xfrm>
            <a:off x="960120" y="4489704"/>
            <a:ext cx="64008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2400" b="0" i="0">
                <a:solidFill>
                  <a:srgbClr val="1B222C"/>
                </a:solidFill>
                <a:latin typeface="Calibri"/>
              </a:rPr>
              <a:t>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25696"/>
            <a:ext cx="9601200" cy="6400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700" b="1" i="0">
                <a:solidFill>
                  <a:srgbClr val="142A4C"/>
                </a:solidFill>
                <a:latin typeface="Calibri"/>
              </a:rPr>
              <a:t>Unul către mulți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5A6676"/>
                </a:solidFill>
                <a:latin typeface="Calibri"/>
              </a:rPr>
              <a:t>Informare fără dialog: site-uri web, newslettere, social media.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30368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2" name="Rectangle 21"/>
          <p:cNvSpPr/>
          <p:nvPr/>
        </p:nvSpPr>
        <p:spPr>
          <a:xfrm>
            <a:off x="640080" y="5230368"/>
            <a:ext cx="91440" cy="86868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3" name="TextBox 22"/>
          <p:cNvSpPr txBox="1"/>
          <p:nvPr/>
        </p:nvSpPr>
        <p:spPr>
          <a:xfrm>
            <a:off x="960120" y="5431536"/>
            <a:ext cx="64008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2400" b="0" i="0">
                <a:solidFill>
                  <a:srgbClr val="1B222C"/>
                </a:solidFill>
                <a:latin typeface="Calibri"/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67528"/>
            <a:ext cx="9601200" cy="6400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700" b="1" i="0">
                <a:solidFill>
                  <a:srgbClr val="142A4C"/>
                </a:solidFill>
                <a:latin typeface="Calibri"/>
              </a:rPr>
              <a:t>Formulare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5A6676"/>
                </a:solidFill>
                <a:latin typeface="Calibri"/>
              </a:rPr>
              <a:t>Colectare organizată de date și feedback (Google Forms).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6" name="TextBox 25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2AB7CA"/>
                </a:solidFill>
                <a:latin typeface="Calibri"/>
              </a:rPr>
              <a:t>VERIFICĂM CE AM REȚINUT</a:t>
            </a:r>
          </a:p>
          <a:p>
            <a:pPr algn="l">
              <a:spcAft>
                <a:spcPts val="0"/>
              </a:spcAft>
            </a:pPr>
            <a:r>
              <a:rPr lang="ro-RO" sz="2700" b="1" i="0">
                <a:solidFill>
                  <a:srgbClr val="FFFFFF"/>
                </a:solidFill>
                <a:latin typeface="Calibri"/>
              </a:rPr>
              <a:t>Întrebări recapitulative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Oval 5"/>
          <p:cNvSpPr/>
          <p:nvPr/>
        </p:nvSpPr>
        <p:spPr>
          <a:xfrm>
            <a:off x="1051560" y="1819656"/>
            <a:ext cx="530352" cy="530352"/>
          </a:xfrm>
          <a:prstGeom prst="ellipse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37360"/>
            <a:ext cx="9281160" cy="6858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700" b="1" i="0">
                <a:solidFill>
                  <a:srgbClr val="142A4C"/>
                </a:solidFill>
                <a:latin typeface="Calibri"/>
              </a:rPr>
              <a:t>Care este diferența dintre comunicarea sincronă și cea asincronă? Dă câte un exemplu pentru fiecare.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Oval 8"/>
          <p:cNvSpPr/>
          <p:nvPr/>
        </p:nvSpPr>
        <p:spPr>
          <a:xfrm>
            <a:off x="1051560" y="2871216"/>
            <a:ext cx="530352" cy="530352"/>
          </a:xfrm>
          <a:prstGeom prst="ellipse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88920"/>
            <a:ext cx="9281160" cy="6858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700" b="1" i="0">
                <a:solidFill>
                  <a:srgbClr val="142A4C"/>
                </a:solidFill>
                <a:latin typeface="Calibri"/>
              </a:rPr>
              <a:t>De ce spunem că chat-ul (WhatsApp) este tehnic asincron, dar social sincron?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0332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Oval 11"/>
          <p:cNvSpPr/>
          <p:nvPr/>
        </p:nvSpPr>
        <p:spPr>
          <a:xfrm>
            <a:off x="1051560" y="3922776"/>
            <a:ext cx="530352" cy="530352"/>
          </a:xfrm>
          <a:prstGeom prst="ellipse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840480"/>
            <a:ext cx="9281160" cy="6858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700" b="1" i="0">
                <a:solidFill>
                  <a:srgbClr val="142A4C"/>
                </a:solidFill>
                <a:latin typeface="Calibri"/>
              </a:rPr>
              <a:t>Vrei să afli ce meniu preferă cei 28 de colegi pentru excursie. Ce canal alegi și de ce?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5488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Oval 14"/>
          <p:cNvSpPr/>
          <p:nvPr/>
        </p:nvSpPr>
        <p:spPr>
          <a:xfrm>
            <a:off x="1051560" y="4974336"/>
            <a:ext cx="530352" cy="530352"/>
          </a:xfrm>
          <a:prstGeom prst="ellipse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92040"/>
            <a:ext cx="9281160" cy="6858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700" b="1" i="0">
                <a:solidFill>
                  <a:srgbClr val="142A4C"/>
                </a:solidFill>
                <a:latin typeface="Calibri"/>
              </a:rPr>
              <a:t>La întrebarea „Ce aplicații ai folosit pentru proiect?” folosești Alegere multiplă sau Casete de selectare? Motivează.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8" name="TextBox 17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10058400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600" b="1" i="0">
                <a:solidFill>
                  <a:srgbClr val="F2A61D"/>
                </a:solidFill>
                <a:latin typeface="Calibri"/>
              </a:rPr>
              <a:t>APLICĂ! · TEMĂ PENTRU ACASĂ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6400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3100" b="1" i="0" dirty="0">
                <a:solidFill>
                  <a:srgbClr val="FFFFFF"/>
                </a:solidFill>
                <a:latin typeface="Calibri"/>
              </a:rPr>
              <a:t>Formular de feedback: „Cum ne-am adaptat la liceu?”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194560"/>
            <a:ext cx="54864" cy="749808"/>
          </a:xfrm>
          <a:prstGeom prst="rect">
            <a:avLst/>
          </a:prstGeom>
          <a:solidFill>
            <a:srgbClr val="2AB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/>
          <p:cNvSpPr txBox="1"/>
          <p:nvPr/>
        </p:nvSpPr>
        <p:spPr>
          <a:xfrm>
            <a:off x="1371600" y="2231136"/>
            <a:ext cx="9692640" cy="71323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650" b="1" i="0" dirty="0">
                <a:solidFill>
                  <a:srgbClr val="2AB7CA"/>
                </a:solidFill>
                <a:latin typeface="Calibri"/>
              </a:rPr>
              <a:t>Răspunsuri multiple</a:t>
            </a:r>
          </a:p>
          <a:p>
            <a:pPr algn="l">
              <a:spcAft>
                <a:spcPts val="0"/>
              </a:spcAft>
            </a:pPr>
            <a:r>
              <a:rPr lang="ro-RO" sz="1600" b="0" i="0" dirty="0">
                <a:solidFill>
                  <a:srgbClr val="C7D6E8"/>
                </a:solidFill>
                <a:latin typeface="Calibri"/>
              </a:rPr>
              <a:t>„Ai reușit să îți faci prieteni noi în clasă?” — Mulți / Câțiva / Nu prea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035808"/>
            <a:ext cx="54864" cy="749808"/>
          </a:xfrm>
          <a:prstGeom prst="rect">
            <a:avLst/>
          </a:prstGeom>
          <a:solidFill>
            <a:srgbClr val="2AB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TextBox 8"/>
          <p:cNvSpPr txBox="1"/>
          <p:nvPr/>
        </p:nvSpPr>
        <p:spPr>
          <a:xfrm>
            <a:off x="1371600" y="3072384"/>
            <a:ext cx="9692640" cy="71323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650" b="1" i="0">
                <a:solidFill>
                  <a:srgbClr val="2AB7CA"/>
                </a:solidFill>
                <a:latin typeface="Calibri"/>
              </a:rPr>
              <a:t>Scară liniară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C7D6E8"/>
                </a:solidFill>
                <a:latin typeface="Calibri"/>
              </a:rPr>
              <a:t>„Nivelul tău de stres legat de note” — de la 1 (foarte relaxat) la 10 (extrem de stresat)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877056"/>
            <a:ext cx="54864" cy="749808"/>
          </a:xfrm>
          <a:prstGeom prst="rect">
            <a:avLst/>
          </a:prstGeom>
          <a:solidFill>
            <a:srgbClr val="2AB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1371600" y="3913632"/>
            <a:ext cx="9692640" cy="71323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650" b="1" i="0">
                <a:solidFill>
                  <a:srgbClr val="2AB7CA"/>
                </a:solidFill>
                <a:latin typeface="Calibri"/>
              </a:rPr>
              <a:t>Grilă cu alegere multiplă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C7D6E8"/>
                </a:solidFill>
                <a:latin typeface="Calibri"/>
              </a:rPr>
              <a:t>Rânduri: Matematică, Română, Limbi străine, Fizică, Chimie · Coloane: Mai ușor, La fel, Mult mai greu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718304"/>
            <a:ext cx="54864" cy="749808"/>
          </a:xfrm>
          <a:prstGeom prst="rect">
            <a:avLst/>
          </a:prstGeom>
          <a:solidFill>
            <a:srgbClr val="2AB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TextBox 12"/>
          <p:cNvSpPr txBox="1"/>
          <p:nvPr/>
        </p:nvSpPr>
        <p:spPr>
          <a:xfrm>
            <a:off x="1371600" y="4754880"/>
            <a:ext cx="9692640" cy="71323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ro-RO" sz="1650" b="1" i="0">
                <a:solidFill>
                  <a:srgbClr val="2AB7CA"/>
                </a:solidFill>
                <a:latin typeface="Calibri"/>
              </a:rPr>
              <a:t>Paragraf</a:t>
            </a:r>
          </a:p>
          <a:p>
            <a:pPr algn="l">
              <a:spcAft>
                <a:spcPts val="0"/>
              </a:spcAft>
            </a:pPr>
            <a:r>
              <a:rPr lang="ro-RO" sz="1600" b="0" i="0">
                <a:solidFill>
                  <a:srgbClr val="C7D6E8"/>
                </a:solidFill>
                <a:latin typeface="Calibri"/>
              </a:rPr>
              <a:t>„Ce propuneri ai pentru a face orele sau pauzele mai plăcute?”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623560"/>
            <a:ext cx="10149840" cy="777240"/>
          </a:xfrm>
          <a:prstGeom prst="roundRect">
            <a:avLst>
              <a:gd name="adj" fmla="val 6000"/>
            </a:avLst>
          </a:prstGeom>
          <a:solidFill>
            <a:srgbClr val="1E3A63"/>
          </a:solidFill>
          <a:ln w="15875">
            <a:solidFill>
              <a:srgbClr val="F2A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TextBox 14"/>
          <p:cNvSpPr txBox="1"/>
          <p:nvPr/>
        </p:nvSpPr>
        <p:spPr>
          <a:xfrm>
            <a:off x="1371600" y="5760720"/>
            <a:ext cx="969264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ro-RO" sz="1600" b="1" i="0">
                <a:solidFill>
                  <a:srgbClr val="FFFFFF"/>
                </a:solidFill>
                <a:latin typeface="Calibri"/>
              </a:rPr>
              <a:t>➕  Bonus: exportă răspunsurile într-o foaie de calcul și calculează media nivelului de stres.</a:t>
            </a:r>
          </a:p>
          <a:p>
            <a:pPr algn="l">
              <a:spcAft>
                <a:spcPts val="0"/>
              </a:spcAft>
            </a:pPr>
            <a:r>
              <a:rPr lang="ro-RO" sz="1600" b="0" i="1">
                <a:solidFill>
                  <a:srgbClr val="9FB4CC"/>
                </a:solidFill>
                <a:latin typeface="Calibri"/>
              </a:rPr>
              <a:t>Indicație: folosește o funcție IF care returnează 1 dacă textul coloanei este „Mulți”, altfel 0.  (recapitulare cls. a VIII-a)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7" name="TextBox 16"/>
          <p:cNvSpPr txBox="1"/>
          <p:nvPr/>
        </p:nvSpPr>
        <p:spPr>
          <a:xfrm>
            <a:off x="640080" y="6528816"/>
            <a:ext cx="822960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o-RO" sz="1100" b="0" i="0">
                <a:solidFill>
                  <a:srgbClr val="5A6676"/>
                </a:solidFill>
                <a:latin typeface="Calibri"/>
              </a:rPr>
              <a:t>Lecția 1 · Comunicare digitală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528816"/>
            <a:ext cx="118872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o-RO" sz="1100" b="1" i="0">
                <a:solidFill>
                  <a:srgbClr val="1E6FD9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2546</Words>
  <Application>Microsoft Office PowerPoint</Application>
  <PresentationFormat>Ecran lat</PresentationFormat>
  <Paragraphs>317</Paragraphs>
  <Slides>16</Slides>
  <Notes>16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Comunicare Digitală</dc:title>
  <dc:subject/>
  <dc:creator>Daniel</dc:creator>
  <cp:keywords/>
  <dc:description>generated using python-pptx</dc:description>
  <cp:lastModifiedBy>Daniel</cp:lastModifiedBy>
  <cp:revision>10</cp:revision>
  <dcterms:created xsi:type="dcterms:W3CDTF">2013-01-27T09:14:16Z</dcterms:created>
  <dcterms:modified xsi:type="dcterms:W3CDTF">2026-09-08T15:17:21Z</dcterms:modified>
  <cp:category/>
  <dc:language>ro-RO</dc:language>
</cp:coreProperties>
</file>